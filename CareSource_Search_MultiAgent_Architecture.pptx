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4617B-3485-497C-A834-378E3AFF12FB}" v="58" dt="2026-10-19T06:35:31.198"/>
    <p1510:client id="{1361B1CB-8138-4E42-954F-2791200247B0}" v="3" dt="2026-10-16T09:16:35.841"/>
    <p1510:client id="{9906C577-9C63-DC4A-4D91-41C9F2B4A0B7}" v="27" dt="2026-10-16T12:44:16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Agents never respond to Teams / M365 Copilot directly; all final answers pass through the Main Orchestrator.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9D0C26-A95C-3A8E-8224-77A241CB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– Multi-Agent Orchestration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Intent-Based Routing, Knowledge Retrieval &amp; Response Generation</a:t>
            </a:r>
            <a:endParaRPr lang="en-US" sz="160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INTERFACE</a:t>
            </a:r>
            <a:endParaRPr lang="en-US" sz="110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 questions via either channel</a:t>
            </a:r>
            <a:endParaRPr lang="en-US" sz="1100"/>
          </a:p>
        </p:txBody>
      </p:sp>
      <p:sp>
        <p:nvSpPr>
          <p:cNvPr id="6" name="Microsoft Teams"/>
          <p:cNvSpPr/>
          <p:nvPr/>
        </p:nvSpPr>
        <p:spPr>
          <a:xfrm>
            <a:off x="3200400" y="12801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Microsoft Teams icon bg"/>
          <p:cNvSpPr/>
          <p:nvPr/>
        </p:nvSpPr>
        <p:spPr>
          <a:xfrm>
            <a:off x="3383280" y="141732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Microsoft Te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922" y="152796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023360" y="12801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500"/>
          </a:p>
        </p:txBody>
      </p:sp>
      <p:sp>
        <p:nvSpPr>
          <p:cNvPr id="10" name="Microsoft 365 Copilot"/>
          <p:cNvSpPr/>
          <p:nvPr/>
        </p:nvSpPr>
        <p:spPr>
          <a:xfrm>
            <a:off x="6400800" y="12801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Microsoft 365 Copilot icon bg"/>
          <p:cNvSpPr/>
          <p:nvPr/>
        </p:nvSpPr>
        <p:spPr>
          <a:xfrm>
            <a:off x="6583680" y="141732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Microsoft 365 Copi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152796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2801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1500"/>
          </a:p>
        </p:txBody>
      </p:sp>
      <p:sp>
        <p:nvSpPr>
          <p:cNvPr id="14" name="Main Orchestrator"/>
          <p:cNvSpPr/>
          <p:nvPr/>
        </p:nvSpPr>
        <p:spPr>
          <a:xfrm>
            <a:off x="457200" y="251460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243A5E"/>
          </a:solidFill>
          <a:ln w="15875">
            <a:solidFill>
              <a:srgbClr val="24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rchestrator icon bg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Orchestra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283829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MAIN ORCHESTRATOR</a:t>
            </a:r>
            <a:endParaRPr lang="en-US" sz="1100"/>
          </a:p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100"/>
          </a:p>
        </p:txBody>
      </p:sp>
      <p:sp>
        <p:nvSpPr>
          <p:cNvPr id="18" name="Capability 1"/>
          <p:cNvSpPr/>
          <p:nvPr/>
        </p:nvSpPr>
        <p:spPr>
          <a:xfrm>
            <a:off x="3703320" y="26974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35507F"/>
          </a:solidFill>
          <a:ln w="9525">
            <a:solidFill>
              <a:srgbClr val="5C7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3776472" y="2697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intent via generative orchestration</a:t>
            </a:r>
            <a:endParaRPr lang="en-US" sz="1100"/>
          </a:p>
        </p:txBody>
      </p:sp>
      <p:sp>
        <p:nvSpPr>
          <p:cNvPr id="20" name="Capability 2"/>
          <p:cNvSpPr/>
          <p:nvPr/>
        </p:nvSpPr>
        <p:spPr>
          <a:xfrm>
            <a:off x="5715000" y="26974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35507F"/>
          </a:solidFill>
          <a:ln w="9525">
            <a:solidFill>
              <a:srgbClr val="5C7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5788152" y="2697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&amp; invokes the right agent(s)</a:t>
            </a:r>
            <a:endParaRPr lang="en-US" sz="1100"/>
          </a:p>
        </p:txBody>
      </p:sp>
      <p:sp>
        <p:nvSpPr>
          <p:cNvPr id="22" name="Capability 3"/>
          <p:cNvSpPr/>
          <p:nvPr/>
        </p:nvSpPr>
        <p:spPr>
          <a:xfrm>
            <a:off x="7726680" y="26974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35507F"/>
          </a:solidFill>
          <a:ln w="9525">
            <a:solidFill>
              <a:srgbClr val="5C7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7799832" y="2697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&amp; consolidates agent responses</a:t>
            </a:r>
            <a:endParaRPr lang="en-US" sz="1100"/>
          </a:p>
        </p:txBody>
      </p:sp>
      <p:sp>
        <p:nvSpPr>
          <p:cNvPr id="24" name="Capability 4"/>
          <p:cNvSpPr/>
          <p:nvPr/>
        </p:nvSpPr>
        <p:spPr>
          <a:xfrm>
            <a:off x="9738360" y="26974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35507F"/>
          </a:solidFill>
          <a:ln w="9525">
            <a:solidFill>
              <a:srgbClr val="5C7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9811512" y="26974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final response to the user</a:t>
            </a:r>
            <a:endParaRPr lang="en-US" sz="1100"/>
          </a:p>
        </p:txBody>
      </p:sp>
      <p:sp>
        <p:nvSpPr>
          <p:cNvPr id="26" name="Agent 1"/>
          <p:cNvSpPr/>
          <p:nvPr/>
        </p:nvSpPr>
        <p:spPr>
          <a:xfrm>
            <a:off x="457200" y="39776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3EEFA"/>
          </a:solidFill>
          <a:ln w="1587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HR Knowledge Agent icon bg"/>
          <p:cNvSpPr/>
          <p:nvPr/>
        </p:nvSpPr>
        <p:spPr>
          <a:xfrm>
            <a:off x="640080" y="416052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HR Knowledge Age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" y="4291279"/>
            <a:ext cx="332842" cy="33284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71600" y="4023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6B3FA0"/>
                </a:solidFill>
                <a:latin typeface="Calibri"/>
                <a:ea typeface="Calibri"/>
                <a:cs typeface="Calibri"/>
              </a:rPr>
              <a:t>AGENT 1  ·  SPECIALIZED AGENT</a:t>
            </a:r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Agent 1</a:t>
            </a:r>
            <a:endParaRPr lang="en-US" sz="1000"/>
          </a:p>
          <a:p>
            <a:pPr marL="0" indent="0">
              <a:buNone/>
            </a:pPr>
            <a:r>
              <a:rPr lang="en-US" sz="11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domain · retrieves · summarizes</a:t>
            </a:r>
            <a:endParaRPr lang="en-US" sz="1000"/>
          </a:p>
        </p:txBody>
      </p:sp>
      <p:sp>
        <p:nvSpPr>
          <p:cNvPr id="30" name="Agent 2"/>
          <p:cNvSpPr/>
          <p:nvPr/>
        </p:nvSpPr>
        <p:spPr>
          <a:xfrm>
            <a:off x="4357116" y="39776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3EEFA"/>
          </a:solidFill>
          <a:ln w="1587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IT Knowledge Agent icon bg"/>
          <p:cNvSpPr/>
          <p:nvPr/>
        </p:nvSpPr>
        <p:spPr>
          <a:xfrm>
            <a:off x="4539996" y="416052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IT Knowledge Ag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755" y="4291279"/>
            <a:ext cx="332842" cy="33284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271516" y="4023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 ·  SPECIALIZED AGENT</a:t>
            </a:r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Knowledge Agent 2</a:t>
            </a:r>
            <a:endParaRPr lang="en-US" sz="1000"/>
          </a:p>
          <a:p>
            <a:pPr marL="0" indent="0">
              <a:buNone/>
            </a:pPr>
            <a:r>
              <a:rPr lang="en-US" sz="11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domain · retrieves · summarizes</a:t>
            </a:r>
            <a:endParaRPr lang="en-US" sz="1000"/>
          </a:p>
        </p:txBody>
      </p:sp>
      <p:sp>
        <p:nvSpPr>
          <p:cNvPr id="34" name="Agent 3"/>
          <p:cNvSpPr/>
          <p:nvPr/>
        </p:nvSpPr>
        <p:spPr>
          <a:xfrm>
            <a:off x="8577072" y="39776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F3EEFA"/>
          </a:solidFill>
          <a:ln w="1587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Finance Knowledge Agent icon bg"/>
          <p:cNvSpPr/>
          <p:nvPr/>
        </p:nvSpPr>
        <p:spPr>
          <a:xfrm>
            <a:off x="8759952" y="416052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Finance Knowledge Agen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711" y="4291279"/>
            <a:ext cx="332842" cy="33284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491472" y="4023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 ·  SPECIALIZED AGENT</a:t>
            </a: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Agent N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domain · retrieves · summarizes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274320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SPECIALIZED AGENTS</a:t>
            </a:r>
            <a:endParaRPr lang="en-US" sz="1100"/>
          </a:p>
        </p:txBody>
      </p:sp>
      <p:sp>
        <p:nvSpPr>
          <p:cNvPr id="39" name="Knowledge Sources &amp; Tools"/>
          <p:cNvSpPr/>
          <p:nvPr/>
        </p:nvSpPr>
        <p:spPr>
          <a:xfrm>
            <a:off x="457200" y="544068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 txBox="1"/>
          <p:nvPr/>
        </p:nvSpPr>
        <p:spPr>
          <a:xfrm>
            <a:off x="640080" y="5486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KNOWLEDGE SOURCES &amp; TOOLS</a:t>
            </a:r>
            <a:endParaRPr lang="en-US" sz="1100"/>
          </a:p>
        </p:txBody>
      </p:sp>
      <p:sp>
        <p:nvSpPr>
          <p:cNvPr id="41" name="SharePoint Knowledge Base"/>
          <p:cNvSpPr/>
          <p:nvPr/>
        </p:nvSpPr>
        <p:spPr>
          <a:xfrm>
            <a:off x="2762174" y="5742432"/>
            <a:ext cx="34290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9C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rePoint Knowledge Base icon bg"/>
          <p:cNvSpPr/>
          <p:nvPr/>
        </p:nvSpPr>
        <p:spPr>
          <a:xfrm>
            <a:off x="2853614" y="5797296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6" descr="SharePoint Knowledge Ba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6151" y="5889833"/>
            <a:ext cx="235549" cy="235549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3356534" y="574243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Knowledge Base</a:t>
            </a:r>
            <a:endParaRPr lang="en-US" sz="1300"/>
          </a:p>
          <a:p>
            <a:pPr marL="0" indent="0">
              <a:buNone/>
            </a:pPr>
            <a:r>
              <a:rPr lang="en-US" sz="10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folders by domain</a:t>
            </a:r>
            <a:endParaRPr lang="en-US" sz="1300"/>
          </a:p>
        </p:txBody>
      </p:sp>
      <p:sp>
        <p:nvSpPr>
          <p:cNvPr id="45" name="MCP Server"/>
          <p:cNvSpPr/>
          <p:nvPr/>
        </p:nvSpPr>
        <p:spPr>
          <a:xfrm>
            <a:off x="6405101" y="5742432"/>
            <a:ext cx="34290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9C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MCP Server icon bg"/>
          <p:cNvSpPr/>
          <p:nvPr/>
        </p:nvSpPr>
        <p:spPr>
          <a:xfrm>
            <a:off x="6565558" y="5797296"/>
            <a:ext cx="420624" cy="42062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7" descr="MCP Serve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8095" y="5889833"/>
            <a:ext cx="235549" cy="235549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7068478" y="574243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/>
          </a:p>
          <a:p>
            <a:pPr marL="0" indent="0">
              <a:buNone/>
            </a:pPr>
            <a:r>
              <a:rPr lang="en-US" sz="10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tools</a:t>
            </a:r>
            <a:endParaRPr lang="en-US" sz="1300"/>
          </a:p>
        </p:txBody>
      </p:sp>
      <p:sp>
        <p:nvSpPr>
          <p:cNvPr id="53" name="Request: user to orchestrator"/>
          <p:cNvSpPr/>
          <p:nvPr/>
        </p:nvSpPr>
        <p:spPr>
          <a:xfrm>
            <a:off x="4343400" y="2057400"/>
            <a:ext cx="0" cy="4572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sponse: orchestrator to user"/>
          <p:cNvSpPr/>
          <p:nvPr/>
        </p:nvSpPr>
        <p:spPr>
          <a:xfrm flipV="1">
            <a:off x="4709160" y="2057400"/>
            <a:ext cx="0" cy="45720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quest: user to orchestrator"/>
          <p:cNvSpPr/>
          <p:nvPr/>
        </p:nvSpPr>
        <p:spPr>
          <a:xfrm>
            <a:off x="7543800" y="2057400"/>
            <a:ext cx="0" cy="4572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sponse: orchestrator to user"/>
          <p:cNvSpPr/>
          <p:nvPr/>
        </p:nvSpPr>
        <p:spPr>
          <a:xfrm flipV="1">
            <a:off x="7909560" y="2057400"/>
            <a:ext cx="0" cy="45720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quest: orchestrator to agent"/>
          <p:cNvSpPr/>
          <p:nvPr/>
        </p:nvSpPr>
        <p:spPr>
          <a:xfrm>
            <a:off x="1874520" y="3520440"/>
            <a:ext cx="0" cy="4572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sponse: agent to orchestrator"/>
          <p:cNvSpPr/>
          <p:nvPr/>
        </p:nvSpPr>
        <p:spPr>
          <a:xfrm flipV="1">
            <a:off x="2514600" y="3520440"/>
            <a:ext cx="0" cy="45720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quest: agent to knowledge"/>
          <p:cNvSpPr/>
          <p:nvPr/>
        </p:nvSpPr>
        <p:spPr>
          <a:xfrm>
            <a:off x="1874520" y="4983480"/>
            <a:ext cx="0" cy="4572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sponse: knowledge to agent"/>
          <p:cNvSpPr/>
          <p:nvPr/>
        </p:nvSpPr>
        <p:spPr>
          <a:xfrm flipV="1">
            <a:off x="2514600" y="4983480"/>
            <a:ext cx="0" cy="45720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quest: orchestrator to agent"/>
          <p:cNvSpPr/>
          <p:nvPr/>
        </p:nvSpPr>
        <p:spPr>
          <a:xfrm>
            <a:off x="5774436" y="3520440"/>
            <a:ext cx="0" cy="4572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sponse: agent to orchestrator"/>
          <p:cNvSpPr/>
          <p:nvPr/>
        </p:nvSpPr>
        <p:spPr>
          <a:xfrm flipV="1">
            <a:off x="6414516" y="3520440"/>
            <a:ext cx="0" cy="45720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quest: agent to knowledge"/>
          <p:cNvSpPr/>
          <p:nvPr/>
        </p:nvSpPr>
        <p:spPr>
          <a:xfrm>
            <a:off x="5774436" y="4983480"/>
            <a:ext cx="0" cy="4572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sponse: knowledge to agent"/>
          <p:cNvSpPr/>
          <p:nvPr/>
        </p:nvSpPr>
        <p:spPr>
          <a:xfrm flipV="1">
            <a:off x="6414516" y="4983480"/>
            <a:ext cx="0" cy="45720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quest: orchestrator to agent"/>
          <p:cNvSpPr/>
          <p:nvPr/>
        </p:nvSpPr>
        <p:spPr>
          <a:xfrm>
            <a:off x="9674352" y="3520440"/>
            <a:ext cx="0" cy="4572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sponse: agent to orchestrator"/>
          <p:cNvSpPr/>
          <p:nvPr/>
        </p:nvSpPr>
        <p:spPr>
          <a:xfrm flipV="1">
            <a:off x="10314432" y="3520440"/>
            <a:ext cx="0" cy="45720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quest: agent to knowledge"/>
          <p:cNvSpPr/>
          <p:nvPr/>
        </p:nvSpPr>
        <p:spPr>
          <a:xfrm>
            <a:off x="9674352" y="4983480"/>
            <a:ext cx="0" cy="45720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sponse: knowledge to agent"/>
          <p:cNvSpPr/>
          <p:nvPr/>
        </p:nvSpPr>
        <p:spPr>
          <a:xfrm flipV="1">
            <a:off x="10314432" y="4983480"/>
            <a:ext cx="0" cy="45720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Legend request"/>
          <p:cNvSpPr/>
          <p:nvPr/>
        </p:nvSpPr>
        <p:spPr>
          <a:xfrm>
            <a:off x="457200" y="6556248"/>
            <a:ext cx="548640" cy="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59"/>
          <p:cNvSpPr txBox="1"/>
          <p:nvPr/>
        </p:nvSpPr>
        <p:spPr>
          <a:xfrm>
            <a:off x="1097280" y="6437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(question → orchestrator → agents → knowledge)</a:t>
            </a:r>
            <a:endParaRPr lang="en-US" sz="1100"/>
          </a:p>
        </p:txBody>
      </p:sp>
      <p:sp>
        <p:nvSpPr>
          <p:cNvPr id="71" name="Legend response"/>
          <p:cNvSpPr/>
          <p:nvPr/>
        </p:nvSpPr>
        <p:spPr>
          <a:xfrm>
            <a:off x="5486400" y="6556248"/>
            <a:ext cx="548640" cy="0"/>
          </a:xfrm>
          <a:prstGeom prst="line">
            <a:avLst/>
          </a:prstGeom>
          <a:noFill/>
          <a:ln w="28575">
            <a:solidFill>
              <a:srgbClr val="6B3F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1"/>
          <p:cNvSpPr txBox="1"/>
          <p:nvPr/>
        </p:nvSpPr>
        <p:spPr>
          <a:xfrm>
            <a:off x="6126480" y="643737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flow (retrieved info → agents → orchestrator → Teams / M365 Copilot)</a:t>
            </a:r>
            <a:endParaRPr lang="en-US" sz="110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914C5C1-E8EA-86D2-180F-041F037B2120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7831836" y="4480560"/>
            <a:ext cx="74523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B19F5-4BCA-0919-99D1-8B370DC0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60" y="1008992"/>
            <a:ext cx="10578662" cy="4840013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5C19886-55FD-8F82-0396-AD53FB9E74AF}"/>
              </a:ext>
            </a:extLst>
          </p:cNvPr>
          <p:cNvSpPr txBox="1"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– Search Agent Developed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38370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Widescreen</PresentationFormat>
  <Paragraphs>32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Studio Multi-Agent Orchestration</dc:title>
  <dc:subject>PptxGenJS Presentation</dc:subject>
  <dc:creator>PptxGenJS</dc:creator>
  <cp:lastModifiedBy>Ansiya Thangal Kunju</cp:lastModifiedBy>
  <cp:revision>2</cp:revision>
  <dcterms:created xsi:type="dcterms:W3CDTF">2026-10-15T06:09:10Z</dcterms:created>
  <dcterms:modified xsi:type="dcterms:W3CDTF">2026-10-19T06:35:31Z</dcterms:modified>
</cp:coreProperties>
</file>